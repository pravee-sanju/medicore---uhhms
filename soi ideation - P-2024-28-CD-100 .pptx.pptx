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7A3574-4C92-4997-ABBC-E272B5035E52}" v="57" dt="2025-10-10T03:45:19.9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991682"/>
            <a:ext cx="4688333" cy="3214558"/>
          </a:xfrm>
        </p:spPr>
        <p:txBody>
          <a:bodyPr anchor="b">
            <a:normAutofit/>
          </a:bodyPr>
          <a:lstStyle/>
          <a:p>
            <a:pPr algn="l"/>
            <a:r>
              <a:rPr lang="en-IN" sz="4700" dirty="0" err="1"/>
              <a:t>SoI</a:t>
            </a:r>
            <a:r>
              <a:rPr lang="en-IN" sz="4700" dirty="0"/>
              <a:t> Ideation Stage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90000"/>
              </a:lnSpc>
              <a:defRPr sz="1600"/>
            </a:pPr>
            <a:r>
              <a:rPr lang="en-IN" sz="1700" dirty="0"/>
              <a:t>Project: </a:t>
            </a:r>
            <a:r>
              <a:rPr lang="en-US" sz="1800" dirty="0" err="1"/>
              <a:t>MediCore</a:t>
            </a:r>
            <a:r>
              <a:rPr lang="en-US" sz="1800" dirty="0"/>
              <a:t> – Unified Hospital &amp; Health Record Platform</a:t>
            </a:r>
            <a:br>
              <a:rPr lang="en-IN" sz="1700" dirty="0"/>
            </a:br>
            <a:r>
              <a:rPr lang="en-IN" sz="1700" dirty="0"/>
              <a:t>Team: Tech Fusion| Lead: </a:t>
            </a:r>
            <a:r>
              <a:rPr lang="en-IN" sz="1700" dirty="0" err="1"/>
              <a:t>Praveenasri</a:t>
            </a:r>
            <a:r>
              <a:rPr lang="en-IN" sz="1700" dirty="0"/>
              <a:t> R | Members: Nithish </a:t>
            </a:r>
            <a:r>
              <a:rPr lang="en-IN" sz="1700" dirty="0" err="1"/>
              <a:t>A,Ruddhara</a:t>
            </a:r>
            <a:r>
              <a:rPr lang="en-IN" sz="1700" dirty="0"/>
              <a:t> devi </a:t>
            </a:r>
            <a:r>
              <a:rPr lang="en-IN" sz="1700" dirty="0" err="1"/>
              <a:t>S,Rathish</a:t>
            </a:r>
            <a:r>
              <a:rPr lang="en-IN" sz="1700" dirty="0"/>
              <a:t> </a:t>
            </a:r>
            <a:r>
              <a:rPr lang="en-IN" sz="1700" dirty="0" err="1"/>
              <a:t>T,Santhoshini</a:t>
            </a:r>
            <a:r>
              <a:rPr lang="en-IN" sz="1700" dirty="0"/>
              <a:t>.</a:t>
            </a:r>
            <a:br>
              <a:rPr lang="en-IN" sz="1700" dirty="0"/>
            </a:br>
            <a:r>
              <a:rPr lang="en-IN" sz="1700" dirty="0"/>
              <a:t>Mentor: </a:t>
            </a:r>
            <a:r>
              <a:rPr lang="en-IN" sz="1700" dirty="0" err="1"/>
              <a:t>Narasimhaguptha</a:t>
            </a:r>
            <a:r>
              <a:rPr lang="en-IN" sz="1700" dirty="0"/>
              <a:t> K | </a:t>
            </a:r>
            <a:r>
              <a:rPr lang="en-IN" sz="1700" dirty="0" err="1"/>
              <a:t>SoI</a:t>
            </a:r>
            <a:r>
              <a:rPr lang="en-IN" sz="1700" dirty="0"/>
              <a:t> Vertical: CD | Cohort: 4</a:t>
            </a:r>
            <a:r>
              <a:rPr lang="en-IN" sz="1700" baseline="30000" dirty="0"/>
              <a:t>th</a:t>
            </a:r>
            <a:r>
              <a:rPr lang="en-IN" sz="1700" dirty="0"/>
              <a:t> floor wing B</a:t>
            </a:r>
          </a:p>
        </p:txBody>
      </p:sp>
      <p:pic>
        <p:nvPicPr>
          <p:cNvPr id="5" name="Picture 4" descr="Light bulbs on blackboard background">
            <a:extLst>
              <a:ext uri="{FF2B5EF4-FFF2-40B4-BE49-F238E27FC236}">
                <a16:creationId xmlns:a16="http://schemas.microsoft.com/office/drawing/2014/main" id="{0C4ED605-1D3A-5ABB-B356-C44F2259E0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60" r="36307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Problem &amp; End‑User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lang="en-US" sz="2000" b="1" dirty="0"/>
              <a:t>Problem Statement</a:t>
            </a:r>
            <a:r>
              <a:rPr lang="en-US" sz="2000" dirty="0"/>
              <a:t>:</a:t>
            </a:r>
          </a:p>
          <a:p>
            <a:pPr marL="0" indent="0">
              <a:buNone/>
              <a:defRPr sz="1800"/>
            </a:pPr>
            <a:r>
              <a:rPr lang="en-US" sz="2000" dirty="0"/>
              <a:t>         Hospitals in India operate with isolated systems that prevent seamless sharing of medical records. Patients often face repeated tests, delays, and privacy issues. There’s a need for a unified, secure, and interoperable system.</a:t>
            </a:r>
          </a:p>
          <a:p>
            <a:pPr marL="0" indent="0">
              <a:buNone/>
              <a:defRPr sz="1800"/>
            </a:pPr>
            <a:endParaRPr lang="en-US" sz="2000" b="1" dirty="0"/>
          </a:p>
          <a:p>
            <a:pPr marL="0" indent="0">
              <a:buNone/>
              <a:defRPr sz="1800"/>
            </a:pPr>
            <a:r>
              <a:rPr lang="en-US" sz="2000" b="1" dirty="0"/>
              <a:t>Target End‑Users</a:t>
            </a:r>
            <a:r>
              <a:rPr lang="en-US" sz="2000" dirty="0"/>
              <a:t>:</a:t>
            </a:r>
          </a:p>
          <a:p>
            <a:pPr marL="0" indent="0">
              <a:buNone/>
              <a:defRPr sz="1800"/>
            </a:pPr>
            <a:r>
              <a:rPr lang="en-US" sz="2000" dirty="0"/>
              <a:t>        Hospitals, Doctors, Patients, Laboratories, Pharmacies, and Health Departments.</a:t>
            </a:r>
          </a:p>
          <a:p>
            <a:pPr marL="0" indent="0">
              <a:buNone/>
              <a:defRPr sz="1800"/>
            </a:pPr>
            <a:endParaRPr lang="en-US" sz="2000" b="1" dirty="0"/>
          </a:p>
          <a:p>
            <a:pPr marL="0" indent="0">
              <a:buNone/>
              <a:defRPr sz="1800"/>
            </a:pPr>
            <a:r>
              <a:rPr lang="en-US" sz="2000" b="1" dirty="0"/>
              <a:t>Evidence/Insight</a:t>
            </a:r>
            <a:r>
              <a:rPr lang="en-US" sz="2000" dirty="0"/>
              <a:t>:</a:t>
            </a:r>
          </a:p>
          <a:p>
            <a:pPr marL="0" indent="0">
              <a:buNone/>
              <a:defRPr sz="1800"/>
            </a:pPr>
            <a:r>
              <a:rPr lang="en-US" sz="2000" dirty="0"/>
              <a:t>         80% of healthcare data remains in non-interoperable silos (WHO, 2024).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User Persona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lang="en-IN" sz="2000" b="1" dirty="0"/>
              <a:t>Persona:</a:t>
            </a:r>
            <a:r>
              <a:rPr lang="en-IN" sz="2000" dirty="0"/>
              <a:t> Dr. Anita Sharma (45) — Senior Physician at a City Hospital</a:t>
            </a:r>
          </a:p>
          <a:p>
            <a:pPr marL="0" indent="0">
              <a:buNone/>
              <a:defRPr sz="1800"/>
            </a:pPr>
            <a:br>
              <a:rPr lang="en-IN" sz="2000" dirty="0"/>
            </a:br>
            <a:r>
              <a:rPr lang="en-IN" sz="2000" b="1" dirty="0"/>
              <a:t>Goals/Needs:</a:t>
            </a:r>
            <a:r>
              <a:rPr lang="en-IN" sz="2000" dirty="0"/>
              <a:t> Access complete patient history for faster and accurate diagnosis.</a:t>
            </a:r>
          </a:p>
          <a:p>
            <a:pPr marL="0" indent="0">
              <a:buNone/>
              <a:defRPr sz="1800"/>
            </a:pPr>
            <a:br>
              <a:rPr lang="en-IN" sz="2000" dirty="0"/>
            </a:br>
            <a:r>
              <a:rPr lang="en-IN" sz="2000" b="1" dirty="0"/>
              <a:t>Frustrations:</a:t>
            </a:r>
            <a:r>
              <a:rPr lang="en-IN" sz="2000" dirty="0"/>
              <a:t> Must rely on fragmented paper reports or patient memory; wastes time on duplicate tests.</a:t>
            </a:r>
          </a:p>
          <a:p>
            <a:pPr marL="0" indent="0">
              <a:buNone/>
              <a:defRPr sz="1800"/>
            </a:pPr>
            <a:br>
              <a:rPr lang="en-IN" sz="2000" dirty="0"/>
            </a:br>
            <a:r>
              <a:rPr lang="en-IN" sz="2000" b="1" dirty="0"/>
              <a:t>Context:</a:t>
            </a:r>
            <a:r>
              <a:rPr lang="en-IN" sz="2000" dirty="0"/>
              <a:t> Uses desktop hospital portal and mobile apps; often handles 20+ patients daily under time pressure.</a:t>
            </a:r>
            <a:endParaRPr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Storyboard (Optional)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475890"/>
              </p:ext>
            </p:extLst>
          </p:nvPr>
        </p:nvGraphicFramePr>
        <p:xfrm>
          <a:off x="422787" y="1554480"/>
          <a:ext cx="8264013" cy="50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7400">
                <a:tc>
                  <a:txBody>
                    <a:bodyPr/>
                    <a:lstStyle/>
                    <a:p>
                      <a:r>
                        <a:rPr sz="1400" dirty="0"/>
                        <a:t>Panel 1: Problem in context (caption)…</a:t>
                      </a:r>
                      <a:endParaRPr lang="en-US" sz="1400" dirty="0"/>
                    </a:p>
                    <a:p>
                      <a:r>
                        <a:rPr lang="en-US" sz="1600" dirty="0"/>
                        <a:t>A patient visits a new hospital for treatment, but their medical history and test results from previous hospitals are unavailable. Doctors have to start from scratch.</a:t>
                      </a:r>
                      <a:endParaRPr sz="16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Panel 2: User attempts current workaround…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User Attempts Current </a:t>
                      </a:r>
                      <a:r>
                        <a:rPr lang="en-US" sz="1600" dirty="0" err="1"/>
                        <a:t>Workaround:The</a:t>
                      </a:r>
                      <a:r>
                        <a:rPr lang="en-US" sz="1600" dirty="0"/>
                        <a:t> patient carries printed reports or WhatsApp photos of prescriptions and lab results. Doctors find it difficult to verify authenticity or get a complete view.</a:t>
                      </a:r>
                      <a:endParaRPr sz="16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Panel 3: Introduce solution idea…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Introduce Solution </a:t>
                      </a:r>
                      <a:r>
                        <a:rPr lang="en-US" sz="1600" dirty="0" err="1"/>
                        <a:t>Idea:MediCore</a:t>
                      </a:r>
                      <a:r>
                        <a:rPr lang="en-US" sz="1600" dirty="0"/>
                        <a:t> introduces a unified digital system that connects hospitals, labs, and pharmacies. Patients and doctors can securely access records anytime using blockchain-backed storage.</a:t>
                      </a:r>
                      <a:endParaRPr sz="1600" dirty="0"/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0">
                <a:tc>
                  <a:txBody>
                    <a:bodyPr/>
                    <a:lstStyle/>
                    <a:p>
                      <a:r>
                        <a:rPr sz="1400" dirty="0"/>
                        <a:t>Panel 4: User interacts with solution…</a:t>
                      </a:r>
                      <a:endParaRPr lang="en-US" sz="1400" dirty="0"/>
                    </a:p>
                    <a:p>
                      <a:r>
                        <a:rPr lang="en-US" sz="1600" dirty="0"/>
                        <a:t>User Interacts with </a:t>
                      </a:r>
                      <a:r>
                        <a:rPr lang="en-US" sz="1600" dirty="0" err="1"/>
                        <a:t>Solution:Doctor</a:t>
                      </a:r>
                      <a:r>
                        <a:rPr lang="en-US" sz="1600" dirty="0"/>
                        <a:t> logs into </a:t>
                      </a:r>
                      <a:r>
                        <a:rPr lang="en-US" sz="1600" dirty="0" err="1"/>
                        <a:t>MediCore</a:t>
                      </a:r>
                      <a:r>
                        <a:rPr lang="en-US" sz="1600" dirty="0"/>
                        <a:t> web portal, searches patient ID, and instantly accesses full medical history, lab results, and prescriptions across hospitals.</a:t>
                      </a:r>
                      <a:endParaRPr sz="16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Panel 5: Outcome / value delivered…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 Outcome / Value </a:t>
                      </a:r>
                      <a:r>
                        <a:rPr lang="en-US" sz="1600" dirty="0" err="1"/>
                        <a:t>Delivered:No</a:t>
                      </a:r>
                      <a:r>
                        <a:rPr lang="en-US" sz="1600" dirty="0"/>
                        <a:t> repeated tests, faster diagnosis, and improved treatment accuracy. Record retrieval time reduces by 60%. Patients gain full control over their health data.</a:t>
                      </a:r>
                    </a:p>
                    <a:p>
                      <a:endParaRPr sz="16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Panel 6: What remains to improve…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What Remains to </a:t>
                      </a:r>
                      <a:r>
                        <a:rPr lang="en-US" sz="1600" dirty="0" err="1"/>
                        <a:t>Improve:Integration</a:t>
                      </a:r>
                      <a:r>
                        <a:rPr lang="en-US" sz="1600" dirty="0"/>
                        <a:t> with IoT-based health monitors and expanding collaboration with more hospitals for wider adoption.</a:t>
                      </a:r>
                      <a:endParaRPr sz="1600" dirty="0"/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Value Proposition Canvas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376960"/>
              </p:ext>
            </p:extLst>
          </p:nvPr>
        </p:nvGraphicFramePr>
        <p:xfrm>
          <a:off x="457200" y="1463040"/>
          <a:ext cx="8229600" cy="424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2080">
                <a:tc>
                  <a:txBody>
                    <a:bodyPr/>
                    <a:lstStyle/>
                    <a:p>
                      <a:r>
                        <a:rPr sz="1800" b="1" dirty="0"/>
                        <a:t>Customer Jobs: [..]</a:t>
                      </a:r>
                      <a:endParaRPr lang="en-US" sz="1800" b="1" dirty="0"/>
                    </a:p>
                    <a:p>
                      <a:r>
                        <a:rPr lang="en-US" sz="1800" b="1" dirty="0"/>
                        <a:t>Access, share, and manage patient health records efficiently.</a:t>
                      </a:r>
                      <a:endParaRPr sz="1800" b="1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Customer Pains: [..]</a:t>
                      </a:r>
                      <a:endParaRPr lang="en-US" sz="1800" b="1" dirty="0"/>
                    </a:p>
                    <a:p>
                      <a:r>
                        <a:rPr lang="en-US" sz="1800" b="1" dirty="0"/>
                        <a:t>Duplicate tests, missing records, data privacy risks.</a:t>
                      </a:r>
                      <a:endParaRPr sz="1800" b="1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Customer Gains: [..]</a:t>
                      </a:r>
                      <a:endParaRPr lang="en-US" sz="1800" b="1" dirty="0"/>
                    </a:p>
                    <a:p>
                      <a:r>
                        <a:rPr lang="en-US" sz="1800" b="1" dirty="0"/>
                        <a:t>Secure, quick, and unified access to complete health data.</a:t>
                      </a:r>
                      <a:endParaRPr sz="1800" b="1" dirty="0"/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2080">
                <a:tc>
                  <a:txBody>
                    <a:bodyPr/>
                    <a:lstStyle/>
                    <a:p>
                      <a:r>
                        <a:rPr sz="1800" b="1" dirty="0"/>
                        <a:t>Our Solution: [..]</a:t>
                      </a:r>
                      <a:endParaRPr lang="en-US" sz="1800" b="1" dirty="0"/>
                    </a:p>
                    <a:p>
                      <a:r>
                        <a:rPr lang="en-US" sz="1800" b="1" dirty="0" err="1"/>
                        <a:t>MediCore</a:t>
                      </a:r>
                      <a:r>
                        <a:rPr lang="en-US" sz="1800" b="1" dirty="0"/>
                        <a:t> – a blockchain and FHIR-based unified health record system.</a:t>
                      </a:r>
                      <a:endParaRPr sz="1800" b="1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Pain Relievers: [..]</a:t>
                      </a:r>
                      <a:endParaRPr lang="en-US" sz="1800" b="1" dirty="0"/>
                    </a:p>
                    <a:p>
                      <a:r>
                        <a:rPr lang="en-US" sz="1800" b="1" dirty="0"/>
                        <a:t>Removes duplicate testing, ensures data integrity, saves time.</a:t>
                      </a:r>
                      <a:endParaRPr sz="1800" b="1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Gain Creators: [..]</a:t>
                      </a:r>
                      <a:endParaRPr lang="en-US" sz="1800" b="1" dirty="0"/>
                    </a:p>
                    <a:p>
                      <a:r>
                        <a:rPr lang="en-US" sz="1800" b="1" dirty="0"/>
                        <a:t>AI summaries, real-time sharing, improved hospital collaboration.</a:t>
                      </a:r>
                      <a:endParaRPr sz="1800" b="1" dirty="0"/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2080">
                <a:tc>
                  <a:txBody>
                    <a:bodyPr/>
                    <a:lstStyle/>
                    <a:p>
                      <a:r>
                        <a:rPr sz="1800" b="1" dirty="0"/>
                        <a:t>Notes: [..]</a:t>
                      </a:r>
                      <a:endParaRPr lang="en-US" sz="1800" b="1" dirty="0"/>
                    </a:p>
                    <a:p>
                      <a:r>
                        <a:rPr lang="en-IN" sz="1800" b="1" dirty="0"/>
                        <a:t>Pilot with dummy FHIR datasets via web/mobile platform.</a:t>
                      </a:r>
                      <a:endParaRPr sz="1800" b="1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Assumptions: [..]</a:t>
                      </a:r>
                      <a:endParaRPr lang="en-US" sz="1800" b="1" dirty="0"/>
                    </a:p>
                    <a:p>
                      <a:r>
                        <a:rPr lang="en-US" sz="1800" b="1" dirty="0"/>
                        <a:t>Hospitals allow API access; reliable internet; user adoption.</a:t>
                      </a:r>
                      <a:endParaRPr sz="1800" b="1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800" b="1" dirty="0"/>
                        <a:t>Evidence/Signals: [..]</a:t>
                      </a:r>
                      <a:endParaRPr lang="en-US" sz="1800" b="1" dirty="0"/>
                    </a:p>
                    <a:p>
                      <a:r>
                        <a:rPr lang="en-US" sz="1800" b="1" dirty="0"/>
                        <a:t>NHA &amp; WHO reports show strong need for interoperable health data systems.</a:t>
                      </a:r>
                      <a:endParaRPr sz="1800" b="1" dirty="0"/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Idea 1 – </a:t>
            </a:r>
            <a:r>
              <a:rPr lang="en-IN" sz="3600" dirty="0" err="1"/>
              <a:t>MediCore</a:t>
            </a:r>
            <a:r>
              <a:rPr lang="en-IN" sz="3600" dirty="0"/>
              <a:t> Cloud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Concept Summary:</a:t>
            </a:r>
            <a:br>
              <a:rPr lang="en-US" sz="2000" dirty="0"/>
            </a:br>
            <a:r>
              <a:rPr lang="en-US" sz="2000" dirty="0"/>
              <a:t>A secure cloud platform connecting hospitals, labs, and pharmacies via FHIR APIs to manage and share complete health records.</a:t>
            </a:r>
          </a:p>
          <a:p>
            <a:r>
              <a:rPr lang="en-US" sz="2000" b="1" dirty="0"/>
              <a:t>Key Features:</a:t>
            </a:r>
            <a:endParaRPr lang="en-US" sz="2000" dirty="0"/>
          </a:p>
          <a:p>
            <a:r>
              <a:rPr lang="en-US" sz="2000" dirty="0"/>
              <a:t>FHIR-based interoperability</a:t>
            </a:r>
          </a:p>
          <a:p>
            <a:r>
              <a:rPr lang="en-US" sz="2000" dirty="0"/>
              <a:t>Blockchain-verified record integrity</a:t>
            </a:r>
          </a:p>
          <a:p>
            <a:r>
              <a:rPr lang="en-US" sz="2000" dirty="0"/>
              <a:t>Role-based multi-user access</a:t>
            </a:r>
          </a:p>
          <a:p>
            <a:r>
              <a:rPr lang="en-US" sz="2000" b="1" dirty="0"/>
              <a:t>Value Proposition:</a:t>
            </a:r>
            <a:br>
              <a:rPr lang="en-US" sz="2000" dirty="0"/>
            </a:br>
            <a:r>
              <a:rPr lang="en-US" sz="2000" dirty="0"/>
              <a:t>Hospitals and patients gain a single source of truth for medical data, reducing duplication, improving trust, and saving time</a:t>
            </a:r>
            <a:r>
              <a:rPr lang="en-US" sz="2400" dirty="0"/>
              <a:t>.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Idea 2 – </a:t>
            </a:r>
            <a:r>
              <a:rPr lang="en-IN" sz="3600" dirty="0" err="1"/>
              <a:t>MediAI</a:t>
            </a:r>
            <a:r>
              <a:rPr lang="en-IN" sz="3600" dirty="0"/>
              <a:t> Assistant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Concept Summary:</a:t>
            </a:r>
            <a:br>
              <a:rPr lang="en-US" sz="2000" dirty="0"/>
            </a:br>
            <a:r>
              <a:rPr lang="en-US" sz="2000" dirty="0"/>
              <a:t>An AI-powered assistant that automatically summarizes long medical records and lab reports for quick review by doctors.</a:t>
            </a:r>
          </a:p>
          <a:p>
            <a:r>
              <a:rPr lang="en-US" sz="2000" b="1" dirty="0"/>
              <a:t>Key Features:</a:t>
            </a:r>
            <a:endParaRPr lang="en-US" sz="2000" dirty="0"/>
          </a:p>
          <a:p>
            <a:r>
              <a:rPr lang="en-US" sz="2000" dirty="0"/>
              <a:t>NLP-based report summarization</a:t>
            </a:r>
          </a:p>
          <a:p>
            <a:r>
              <a:rPr lang="en-US" sz="2000" dirty="0"/>
              <a:t>Risk alert generation for chronic conditions</a:t>
            </a:r>
          </a:p>
          <a:p>
            <a:r>
              <a:rPr lang="en-US" sz="2000" dirty="0"/>
              <a:t>Integration with existing hospital EMR systems</a:t>
            </a:r>
          </a:p>
          <a:p>
            <a:r>
              <a:rPr lang="en-US" sz="2000" b="1" dirty="0"/>
              <a:t>Value Proposition:</a:t>
            </a:r>
            <a:br>
              <a:rPr lang="en-US" sz="2000" dirty="0"/>
            </a:br>
            <a:r>
              <a:rPr lang="en-US" sz="2000" dirty="0"/>
              <a:t>Speeds up diagnosis and decision-making while reducing cognitive load for doctors.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Idea 3 – </a:t>
            </a:r>
            <a:r>
              <a:rPr lang="en-IN" sz="3600" dirty="0" err="1"/>
              <a:t>MediLink</a:t>
            </a:r>
            <a:r>
              <a:rPr lang="en-IN" sz="3600" dirty="0"/>
              <a:t> Network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Concept Summary:</a:t>
            </a:r>
            <a:br>
              <a:rPr lang="en-US" sz="2000" dirty="0"/>
            </a:br>
            <a:r>
              <a:rPr lang="en-US" sz="2000" dirty="0"/>
              <a:t>A decentralized blockchain network enabling peer-to-peer sharing of verified patient records among hospitals.</a:t>
            </a:r>
          </a:p>
          <a:p>
            <a:r>
              <a:rPr lang="en-US" sz="2000" b="1" dirty="0"/>
              <a:t>Key Features:</a:t>
            </a:r>
            <a:endParaRPr lang="en-US" sz="2000" dirty="0"/>
          </a:p>
          <a:p>
            <a:r>
              <a:rPr lang="en-US" sz="2000" dirty="0"/>
              <a:t>Smart-contract-based record exchange</a:t>
            </a:r>
          </a:p>
          <a:p>
            <a:r>
              <a:rPr lang="en-US" sz="2000" dirty="0"/>
              <a:t>Tamper-proof ledger for transactions</a:t>
            </a:r>
          </a:p>
          <a:p>
            <a:r>
              <a:rPr lang="en-US" sz="2000" dirty="0"/>
              <a:t>Consent-based access for patients</a:t>
            </a:r>
          </a:p>
          <a:p>
            <a:r>
              <a:rPr lang="en-US" sz="2000" b="1" dirty="0"/>
              <a:t>Value Proposition:</a:t>
            </a:r>
            <a:br>
              <a:rPr lang="en-US" sz="2000" dirty="0"/>
            </a:br>
            <a:r>
              <a:rPr lang="en-US" sz="2000" dirty="0"/>
              <a:t>Builds trust among healthcare providers and ensures data authenticity across multiple organizations.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3600"/>
              <a:t>Idea Evaluation — Desirability • Feasibility • Viability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795315"/>
              </p:ext>
            </p:extLst>
          </p:nvPr>
        </p:nvGraphicFramePr>
        <p:xfrm>
          <a:off x="452284" y="1371123"/>
          <a:ext cx="8234516" cy="4934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16864">
                <a:tc>
                  <a:txBody>
                    <a:bodyPr/>
                    <a:lstStyle/>
                    <a:p>
                      <a:r>
                        <a:rPr sz="1400" b="1"/>
                        <a:t>Criteria / Idea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400" b="1"/>
                        <a:t>Idea 1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400" b="1"/>
                        <a:t>Idea 2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400" b="1"/>
                        <a:t>Idea 3</a:t>
                      </a: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600" dirty="0"/>
                        <a:t>Desirability (user appeal)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High – Hospitals and patients both need interoperable data access.</a:t>
                      </a:r>
                      <a:endParaRPr sz="16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High (H)</a:t>
                      </a:r>
                      <a:r>
                        <a:rPr lang="en-US" sz="1600" dirty="0"/>
                        <a:t> – Solves the most pressing user need; allows unified health record access</a:t>
                      </a:r>
                      <a:endParaRPr sz="16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Medium (M)</a:t>
                      </a:r>
                      <a:r>
                        <a:rPr lang="en-US" sz="1600" dirty="0"/>
                        <a:t> – Attractive for doctors but limited user reach.</a:t>
                      </a:r>
                      <a:endParaRPr sz="16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Medium (M)</a:t>
                      </a:r>
                      <a:r>
                        <a:rPr lang="en-US" sz="1600" dirty="0"/>
                        <a:t> – Useful for secure sharing but not directly experienced by end users.</a:t>
                      </a:r>
                      <a:endParaRPr sz="1600" dirty="0"/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600" dirty="0"/>
                        <a:t>Feasibility (technical)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Medium – Requires API integration and blockchain expertise.</a:t>
                      </a:r>
                      <a:endParaRPr sz="16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Medium (M)</a:t>
                      </a:r>
                      <a:r>
                        <a:rPr lang="en-US" sz="1600" dirty="0"/>
                        <a:t> – Uses open-source FHIR APIs and cloud tools; moderately complex.</a:t>
                      </a:r>
                      <a:endParaRPr sz="16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High (H)</a:t>
                      </a:r>
                      <a:r>
                        <a:rPr lang="en-US" sz="1600" dirty="0"/>
                        <a:t> – Easier to build using existing NLP frameworks.</a:t>
                      </a:r>
                      <a:endParaRPr sz="16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Low (L)</a:t>
                      </a:r>
                      <a:r>
                        <a:rPr lang="en-US" sz="1600" dirty="0"/>
                        <a:t> – Technically complex; needs blockchain node setup across hospitals.</a:t>
                      </a:r>
                      <a:endParaRPr sz="1600" dirty="0"/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600" dirty="0"/>
                        <a:t>Viability (sustainable)</a:t>
                      </a:r>
                      <a:endParaRPr lang="en-US" sz="1600" dirty="0"/>
                    </a:p>
                    <a:p>
                      <a:r>
                        <a:rPr lang="en-US" sz="1600" dirty="0"/>
                        <a:t>High – Scalable for both government and private healthcare sectors.</a:t>
                      </a:r>
                    </a:p>
                    <a:p>
                      <a:endParaRPr sz="16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High (H)</a:t>
                      </a:r>
                      <a:r>
                        <a:rPr lang="en-US" sz="1600" dirty="0"/>
                        <a:t> – Supports large-scale adoption through cloud scalability.</a:t>
                      </a:r>
                      <a:endParaRPr sz="16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Medium (M)</a:t>
                      </a:r>
                      <a:r>
                        <a:rPr lang="en-US" sz="1600" dirty="0"/>
                        <a:t> – Depends on AI performance and updates.</a:t>
                      </a:r>
                      <a:endParaRPr sz="16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Medium (M)</a:t>
                      </a:r>
                      <a:r>
                        <a:rPr lang="en-US" sz="1600" dirty="0"/>
                        <a:t> – Long-term potential but high initial cost and regulation barriers.</a:t>
                      </a:r>
                      <a:endParaRPr sz="1600" dirty="0"/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20640"/>
            <a:ext cx="8911863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chemeClr val="tx2"/>
                </a:solidFill>
              </a:defRPr>
            </a:pPr>
            <a:endParaRPr lang="en-US" dirty="0"/>
          </a:p>
          <a:p>
            <a:pPr>
              <a:defRPr sz="1200">
                <a:solidFill>
                  <a:schemeClr val="tx2"/>
                </a:solidFill>
              </a:defRPr>
            </a:pPr>
            <a:endParaRPr lang="en-IN" dirty="0"/>
          </a:p>
          <a:p>
            <a:pPr>
              <a:defRPr sz="1200">
                <a:solidFill>
                  <a:schemeClr val="tx2"/>
                </a:solidFill>
              </a:defRPr>
            </a:pPr>
            <a:endParaRPr lang="en-IN" dirty="0"/>
          </a:p>
          <a:p>
            <a:pPr>
              <a:defRPr sz="1200">
                <a:solidFill>
                  <a:schemeClr val="tx2"/>
                </a:solidFill>
              </a:defRPr>
            </a:pPr>
            <a:endParaRPr lang="en-IN" dirty="0"/>
          </a:p>
          <a:p>
            <a:pPr>
              <a:defRPr sz="1200">
                <a:solidFill>
                  <a:schemeClr val="tx2"/>
                </a:solidFill>
              </a:defRPr>
            </a:pPr>
            <a:endParaRPr lang="en-IN" dirty="0"/>
          </a:p>
          <a:p>
            <a:pPr>
              <a:defRPr sz="1200">
                <a:solidFill>
                  <a:schemeClr val="tx2"/>
                </a:solidFill>
              </a:defRPr>
            </a:pPr>
            <a:endParaRPr lang="en-IN" dirty="0"/>
          </a:p>
          <a:p>
            <a:pPr>
              <a:defRPr sz="1200">
                <a:solidFill>
                  <a:schemeClr val="tx2"/>
                </a:solidFill>
              </a:defRPr>
            </a:pPr>
            <a:endParaRPr lang="en-IN" dirty="0"/>
          </a:p>
          <a:p>
            <a:pPr>
              <a:defRPr sz="1200">
                <a:solidFill>
                  <a:schemeClr val="tx2"/>
                </a:solidFill>
              </a:defRPr>
            </a:pPr>
            <a:r>
              <a:rPr dirty="0"/>
              <a:t>Use the 3 lenses from Design Thinking. Choose the idea with the best overall balance for your end‑user, team capabilities, and sustainability.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Selected Idea &amp;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200" b="1" dirty="0"/>
              <a:t>Chosen Idea:</a:t>
            </a:r>
            <a:r>
              <a:rPr lang="en-US" sz="2200" dirty="0"/>
              <a:t> </a:t>
            </a:r>
            <a:r>
              <a:rPr lang="en-US" sz="2200" dirty="0" err="1"/>
              <a:t>MediCore</a:t>
            </a:r>
            <a:r>
              <a:rPr lang="en-US" sz="2200" dirty="0"/>
              <a:t> – Unified Hospital &amp; Health Record Platform</a:t>
            </a:r>
          </a:p>
          <a:p>
            <a:r>
              <a:rPr lang="en-US" sz="2200" b="1" dirty="0"/>
              <a:t>Description:</a:t>
            </a:r>
            <a:br>
              <a:rPr lang="en-US" sz="2200" dirty="0"/>
            </a:br>
            <a:r>
              <a:rPr lang="en-US" sz="2200" dirty="0"/>
              <a:t>A secure, interoperable system that connects hospitals, labs, and pharmacies through a shared cloud database using FHIR standards and blockchain verification.</a:t>
            </a:r>
          </a:p>
          <a:p>
            <a:r>
              <a:rPr lang="en-US" sz="2200" b="1" dirty="0"/>
              <a:t>Why We Chose It:</a:t>
            </a:r>
            <a:endParaRPr lang="en-US" sz="2200" dirty="0"/>
          </a:p>
          <a:p>
            <a:r>
              <a:rPr lang="en-US" sz="2200" dirty="0"/>
              <a:t>High desirability: directly solves cross-hospital data gap</a:t>
            </a:r>
          </a:p>
          <a:p>
            <a:r>
              <a:rPr lang="en-US" sz="2200" dirty="0"/>
              <a:t>Technically feasible: uses available open-source APIs and frameworks</a:t>
            </a:r>
          </a:p>
          <a:p>
            <a:r>
              <a:rPr lang="en-US" sz="2200" dirty="0"/>
              <a:t>Viable: scalable for both public and private healthcare networks</a:t>
            </a:r>
          </a:p>
          <a:p>
            <a:r>
              <a:rPr lang="en-US" sz="2200" b="1" dirty="0"/>
              <a:t>Evidence:</a:t>
            </a:r>
            <a:br>
              <a:rPr lang="en-US" sz="2200" dirty="0"/>
            </a:br>
            <a:r>
              <a:rPr lang="en-US" sz="2200" dirty="0"/>
              <a:t>Studies by NHA and WHO confirm the urgency for interoperable digital health systems.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3600"/>
              <a:t>Solution Features &amp; Prioritization (MoSCoW)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061629"/>
              </p:ext>
            </p:extLst>
          </p:nvPr>
        </p:nvGraphicFramePr>
        <p:xfrm>
          <a:off x="442452" y="1463040"/>
          <a:ext cx="8244348" cy="359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9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r>
                        <a:rPr sz="2000"/>
                        <a:t>Must‑Have (critical for PoC)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FHIR API integration</a:t>
                      </a:r>
                    </a:p>
                    <a:p>
                      <a:r>
                        <a:rPr lang="en-IN" sz="2000" dirty="0"/>
                        <a:t>Secure cloud backend</a:t>
                      </a:r>
                    </a:p>
                    <a:p>
                      <a:r>
                        <a:rPr lang="en-IN" sz="2000" dirty="0"/>
                        <a:t>Role-based login</a:t>
                      </a:r>
                      <a:endParaRPr sz="2000" dirty="0"/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2000"/>
                        <a:t>Should‑Have (important)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Blockchain validation</a:t>
                      </a:r>
                      <a:endParaRPr sz="2000" dirty="0"/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2000"/>
                        <a:t>Could‑Have (nice to include)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AI report summarizer</a:t>
                      </a:r>
                      <a:endParaRPr sz="2000" dirty="0"/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2000"/>
                        <a:t>Won’t‑Have (for now)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insurance claims automation</a:t>
                      </a:r>
                      <a:endParaRPr sz="2000" dirty="0"/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chemeClr val="tx2"/>
                </a:solidFill>
              </a:defRPr>
            </a:pPr>
            <a:r>
              <a:rPr dirty="0"/>
              <a:t>Scope your PoC around the Must‑Haves first. Should/Could items are optional and can be phased 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Next Steps Toward PoC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026017"/>
              </p:ext>
            </p:extLst>
          </p:nvPr>
        </p:nvGraphicFramePr>
        <p:xfrm>
          <a:off x="280416" y="1255777"/>
          <a:ext cx="8406384" cy="5552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4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2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2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0451">
                <a:tc>
                  <a:txBody>
                    <a:bodyPr/>
                    <a:lstStyle/>
                    <a:p>
                      <a:r>
                        <a:rPr sz="1400" b="1" dirty="0"/>
                        <a:t>Step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400" b="1"/>
                        <a:t>Owner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400" b="1"/>
                        <a:t>Date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sz="1400" b="1" dirty="0"/>
                        <a:t>Output / Validation</a:t>
                      </a:r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8364">
                <a:tc>
                  <a:txBody>
                    <a:bodyPr/>
                    <a:lstStyle/>
                    <a:p>
                      <a:r>
                        <a:rPr lang="en-US" sz="1400" dirty="0"/>
                        <a:t>Step 1: Research and finalize FHIR integration strategy</a:t>
                      </a:r>
                      <a:endParaRPr sz="14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Praveena Sri R</a:t>
                      </a:r>
                      <a:endParaRPr sz="14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 December</a:t>
                      </a:r>
                      <a:endParaRPr sz="14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Detailed FHIR Standard integration plan; mapping of required health resources (e.g., Patient, Observation) to system data models.</a:t>
                      </a:r>
                      <a:endParaRPr sz="1400" dirty="0"/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4538">
                <a:tc>
                  <a:txBody>
                    <a:bodyPr/>
                    <a:lstStyle/>
                    <a:p>
                      <a:r>
                        <a:rPr lang="en-US" sz="1400" dirty="0"/>
                        <a:t>Step 2: Design centralized API and database schema	</a:t>
                      </a:r>
                      <a:endParaRPr sz="14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Ruddhara</a:t>
                      </a:r>
                      <a:r>
                        <a:rPr lang="en-US" sz="1400" dirty="0"/>
                        <a:t> Devi S</a:t>
                      </a:r>
                      <a:endParaRPr sz="14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 December</a:t>
                      </a:r>
                      <a:endParaRPr sz="14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Database ER Diagram (for initial two hospitals); Django REST API endpoints defined for record creation/retrieval.</a:t>
                      </a:r>
                      <a:endParaRPr sz="1400" dirty="0"/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8364">
                <a:tc>
                  <a:txBody>
                    <a:bodyPr/>
                    <a:lstStyle/>
                    <a:p>
                      <a:r>
                        <a:rPr lang="en-US" sz="1400" dirty="0"/>
                        <a:t>Step 3:Establish architecture for two-hospital connection</a:t>
                      </a:r>
                      <a:endParaRPr sz="14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Nithish A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 December</a:t>
                      </a:r>
                      <a:endParaRPr sz="14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Finalized system architecture diagram for PoC; selection of cloud/hosting environment; feasibility analysis complete.</a:t>
                      </a:r>
                      <a:endParaRPr sz="1400" dirty="0"/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4538">
                <a:tc>
                  <a:txBody>
                    <a:bodyPr/>
                    <a:lstStyle/>
                    <a:p>
                      <a:r>
                        <a:rPr lang="en-US" sz="1400" dirty="0"/>
                        <a:t>Step 4:Develop basic data sharing prototype (PoC Core)</a:t>
                      </a:r>
                      <a:endParaRPr sz="14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Rathish T</a:t>
                      </a:r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 January</a:t>
                      </a:r>
                      <a:endParaRPr sz="1400" dirty="0"/>
                    </a:p>
                  </a:txBody>
                  <a:tcPr marL="54000" marR="54000" marT="36000" marB="3600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Initial code base with the ability to transfer one test record between two simulated hospitals via REST API &amp; FHIR.</a:t>
                      </a:r>
                      <a:endParaRPr sz="1400" dirty="0"/>
                    </a:p>
                  </a:txBody>
                  <a:tcPr marL="54000" marR="54000"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HL7 International (2023) – Fast Healthcare Interoperability Resources (FHIR)</a:t>
            </a:r>
          </a:p>
          <a:p>
            <a:r>
              <a:rPr lang="en-IN" sz="2200" dirty="0"/>
              <a:t>IEEE Access (2023) – Blockchain-based Medical Record Management Systems</a:t>
            </a:r>
          </a:p>
          <a:p>
            <a:r>
              <a:rPr lang="en-IN" sz="2200" dirty="0"/>
              <a:t>NHA (2024) – Ayushman Bharat Digital Mission Reports</a:t>
            </a:r>
          </a:p>
          <a:p>
            <a:r>
              <a:rPr lang="en-IN" sz="2200" dirty="0"/>
              <a:t>WHO (2024) – Digital Health Interoperability Report</a:t>
            </a:r>
          </a:p>
          <a:p>
            <a:r>
              <a:rPr lang="en-IN" sz="2200" dirty="0"/>
              <a:t>Nature Digital Medicine (2024) – AI in Medical Diagnostics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1366</Words>
  <Application>Microsoft Office PowerPoint</Application>
  <PresentationFormat>On-screen Show (4:3)</PresentationFormat>
  <Paragraphs>144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SoI Ideation Stage Template</vt:lpstr>
      <vt:lpstr>Problem &amp; End‑User Recap</vt:lpstr>
      <vt:lpstr>User Persona (Optional)</vt:lpstr>
      <vt:lpstr>Storyboard (Optional)</vt:lpstr>
      <vt:lpstr>Value Proposition Canvas (Optional)</vt:lpstr>
      <vt:lpstr>Idea 1 – MediCore Cloud</vt:lpstr>
      <vt:lpstr>Idea 2 – MediAI Assistant</vt:lpstr>
      <vt:lpstr>Idea 3 – MediLink Network</vt:lpstr>
      <vt:lpstr>Idea Evaluation — Desirability • Feasibility • Viability</vt:lpstr>
      <vt:lpstr>Selected Idea &amp; Justification</vt:lpstr>
      <vt:lpstr>Solution Features &amp; Prioritization (MoSCoW)</vt:lpstr>
      <vt:lpstr>Next Steps Toward PoC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Thiruvaazhi Uloli</dc:creator>
  <cp:keywords/>
  <dc:description>generated using python-pptx</dc:description>
  <cp:lastModifiedBy>praveena sri</cp:lastModifiedBy>
  <cp:revision>4</cp:revision>
  <dcterms:created xsi:type="dcterms:W3CDTF">2013-01-27T09:14:16Z</dcterms:created>
  <dcterms:modified xsi:type="dcterms:W3CDTF">2025-10-10T03:50:14Z</dcterms:modified>
  <cp:category/>
</cp:coreProperties>
</file>